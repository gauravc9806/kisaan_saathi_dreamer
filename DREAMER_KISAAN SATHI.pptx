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</p:sldIdLst>
  <p:sldSz cx="18288000" cy="10287000"/>
  <p:notesSz cx="6858000" cy="9144000"/>
  <p:embeddedFontLst>
    <p:embeddedFont>
      <p:font typeface="Helvetica World" panose="020B0604020202020204" charset="-128"/>
      <p:regular r:id="rId10"/>
    </p:embeddedFont>
    <p:embeddedFont>
      <p:font typeface="Intro" panose="02000000000000000000" charset="0"/>
      <p:regular r:id="rId11"/>
    </p:embeddedFont>
    <p:embeddedFont>
      <p:font typeface="Montserrat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D1C49C-B4EB-4D42-BF6B-04D6F5E4D558}" v="24" dt="2026-02-18T15:42:04.4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81101" y="2741590"/>
            <a:ext cx="208264" cy="208264"/>
          </a:xfrm>
          <a:custGeom>
            <a:avLst/>
            <a:gdLst/>
            <a:ahLst/>
            <a:cxnLst/>
            <a:rect l="l" t="t" r="r" b="b"/>
            <a:pathLst>
              <a:path w="208264" h="208264">
                <a:moveTo>
                  <a:pt x="0" y="0"/>
                </a:moveTo>
                <a:lnTo>
                  <a:pt x="208264" y="0"/>
                </a:lnTo>
                <a:lnTo>
                  <a:pt x="208264" y="208264"/>
                </a:lnTo>
                <a:lnTo>
                  <a:pt x="0" y="2082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581101" y="4254198"/>
            <a:ext cx="208264" cy="208074"/>
          </a:xfrm>
          <a:custGeom>
            <a:avLst/>
            <a:gdLst/>
            <a:ahLst/>
            <a:cxnLst/>
            <a:rect l="l" t="t" r="r" b="b"/>
            <a:pathLst>
              <a:path w="208264" h="208074">
                <a:moveTo>
                  <a:pt x="0" y="0"/>
                </a:moveTo>
                <a:lnTo>
                  <a:pt x="208264" y="0"/>
                </a:lnTo>
                <a:lnTo>
                  <a:pt x="208264" y="208074"/>
                </a:lnTo>
                <a:lnTo>
                  <a:pt x="0" y="2080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581101" y="5912987"/>
            <a:ext cx="208264" cy="208264"/>
          </a:xfrm>
          <a:custGeom>
            <a:avLst/>
            <a:gdLst/>
            <a:ahLst/>
            <a:cxnLst/>
            <a:rect l="l" t="t" r="r" b="b"/>
            <a:pathLst>
              <a:path w="208264" h="208264">
                <a:moveTo>
                  <a:pt x="0" y="0"/>
                </a:moveTo>
                <a:lnTo>
                  <a:pt x="208264" y="0"/>
                </a:lnTo>
                <a:lnTo>
                  <a:pt x="208264" y="208264"/>
                </a:lnTo>
                <a:lnTo>
                  <a:pt x="0" y="2082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581101" y="7322048"/>
            <a:ext cx="208264" cy="208264"/>
          </a:xfrm>
          <a:custGeom>
            <a:avLst/>
            <a:gdLst/>
            <a:ahLst/>
            <a:cxnLst/>
            <a:rect l="l" t="t" r="r" b="b"/>
            <a:pathLst>
              <a:path w="208264" h="208264">
                <a:moveTo>
                  <a:pt x="0" y="0"/>
                </a:moveTo>
                <a:lnTo>
                  <a:pt x="208264" y="0"/>
                </a:lnTo>
                <a:lnTo>
                  <a:pt x="208264" y="208265"/>
                </a:lnTo>
                <a:lnTo>
                  <a:pt x="0" y="2082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" name="Group 6"/>
          <p:cNvGrpSpPr/>
          <p:nvPr/>
        </p:nvGrpSpPr>
        <p:grpSpPr>
          <a:xfrm>
            <a:off x="118615" y="134693"/>
            <a:ext cx="1104900" cy="1104900"/>
            <a:chOff x="0" y="0"/>
            <a:chExt cx="1473200" cy="1473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73200" cy="1473200"/>
            </a:xfrm>
            <a:custGeom>
              <a:avLst/>
              <a:gdLst/>
              <a:ahLst/>
              <a:cxnLst/>
              <a:rect l="l" t="t" r="r" b="b"/>
              <a:pathLst>
                <a:path w="1473200" h="1473200">
                  <a:moveTo>
                    <a:pt x="0" y="0"/>
                  </a:moveTo>
                  <a:lnTo>
                    <a:pt x="1473200" y="0"/>
                  </a:lnTo>
                  <a:lnTo>
                    <a:pt x="1473200" y="1473200"/>
                  </a:lnTo>
                  <a:lnTo>
                    <a:pt x="0" y="147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81101" y="2741590"/>
            <a:ext cx="208264" cy="208264"/>
            <a:chOff x="0" y="0"/>
            <a:chExt cx="208267" cy="2082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8282" cy="208282"/>
            </a:xfrm>
            <a:custGeom>
              <a:avLst/>
              <a:gdLst/>
              <a:ahLst/>
              <a:cxnLst/>
              <a:rect l="l" t="t" r="r" b="b"/>
              <a:pathLst>
                <a:path w="208282" h="208282">
                  <a:moveTo>
                    <a:pt x="0" y="208282"/>
                  </a:moveTo>
                  <a:lnTo>
                    <a:pt x="208282" y="208282"/>
                  </a:lnTo>
                  <a:lnTo>
                    <a:pt x="20828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81101" y="4254198"/>
            <a:ext cx="208264" cy="208264"/>
            <a:chOff x="0" y="0"/>
            <a:chExt cx="208267" cy="20826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8282" cy="208282"/>
            </a:xfrm>
            <a:custGeom>
              <a:avLst/>
              <a:gdLst/>
              <a:ahLst/>
              <a:cxnLst/>
              <a:rect l="l" t="t" r="r" b="b"/>
              <a:pathLst>
                <a:path w="208282" h="208282">
                  <a:moveTo>
                    <a:pt x="0" y="208282"/>
                  </a:moveTo>
                  <a:lnTo>
                    <a:pt x="208282" y="208282"/>
                  </a:lnTo>
                  <a:lnTo>
                    <a:pt x="20828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81101" y="5912987"/>
            <a:ext cx="208264" cy="208264"/>
            <a:chOff x="0" y="0"/>
            <a:chExt cx="208267" cy="20826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8282" cy="208282"/>
            </a:xfrm>
            <a:custGeom>
              <a:avLst/>
              <a:gdLst/>
              <a:ahLst/>
              <a:cxnLst/>
              <a:rect l="l" t="t" r="r" b="b"/>
              <a:pathLst>
                <a:path w="208282" h="208282">
                  <a:moveTo>
                    <a:pt x="0" y="208282"/>
                  </a:moveTo>
                  <a:lnTo>
                    <a:pt x="208282" y="208282"/>
                  </a:lnTo>
                  <a:lnTo>
                    <a:pt x="20828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81101" y="7754636"/>
            <a:ext cx="208264" cy="208264"/>
            <a:chOff x="0" y="0"/>
            <a:chExt cx="208267" cy="20826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8282" cy="208282"/>
            </a:xfrm>
            <a:custGeom>
              <a:avLst/>
              <a:gdLst/>
              <a:ahLst/>
              <a:cxnLst/>
              <a:rect l="l" t="t" r="r" b="b"/>
              <a:pathLst>
                <a:path w="208282" h="208282">
                  <a:moveTo>
                    <a:pt x="0" y="208282"/>
                  </a:moveTo>
                  <a:lnTo>
                    <a:pt x="208282" y="208282"/>
                  </a:lnTo>
                  <a:lnTo>
                    <a:pt x="20828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21429" y="359273"/>
            <a:ext cx="3641712" cy="61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5"/>
              </a:lnSpc>
            </a:pPr>
            <a:r>
              <a:rPr lang="en-US" sz="3568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HACK KRMU 5.0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97628" y="2447363"/>
            <a:ext cx="16709271" cy="76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551" dirty="0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Problem Statement ID :  </a:t>
            </a:r>
            <a:r>
              <a:rPr lang="en-US" sz="4551" b="1" dirty="0">
                <a:solidFill>
                  <a:schemeClr val="bg1"/>
                </a:solidFill>
                <a:latin typeface="Intro" panose="02000000000000000000" charset="0"/>
                <a:ea typeface="Intro"/>
                <a:cs typeface="Intro"/>
                <a:sym typeface="Intro"/>
              </a:rPr>
              <a:t>problem statement 7 </a:t>
            </a:r>
            <a:endParaRPr lang="en-US" sz="4551" b="1" dirty="0">
              <a:solidFill>
                <a:srgbClr val="FFFFFF"/>
              </a:solidFill>
              <a:latin typeface="Intro"/>
              <a:ea typeface="Intro"/>
              <a:cs typeface="Intro"/>
              <a:sym typeface="Intro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16794" y="3942064"/>
            <a:ext cx="7822406" cy="702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94"/>
              </a:lnSpc>
            </a:pPr>
            <a:r>
              <a:rPr lang="en-US" sz="4210" dirty="0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Team Name : Dreamer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97629" y="5161178"/>
            <a:ext cx="16916210" cy="26432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100"/>
              </a:lnSpc>
            </a:pPr>
            <a:r>
              <a:rPr lang="en-US" sz="4757" dirty="0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TEAM ID : HK073</a:t>
            </a:r>
          </a:p>
          <a:p>
            <a:pPr>
              <a:lnSpc>
                <a:spcPts val="11100"/>
              </a:lnSpc>
            </a:pPr>
            <a:r>
              <a:rPr lang="en-US" sz="4757" dirty="0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 MEMBERS : Mehul, Gaurav Chauhan, Toyash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6529" y="228600"/>
            <a:ext cx="1104900" cy="1104900"/>
            <a:chOff x="0" y="0"/>
            <a:chExt cx="1473200" cy="147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73200" cy="1473200"/>
            </a:xfrm>
            <a:custGeom>
              <a:avLst/>
              <a:gdLst/>
              <a:ahLst/>
              <a:cxnLst/>
              <a:rect l="l" t="t" r="r" b="b"/>
              <a:pathLst>
                <a:path w="1473200" h="1473200">
                  <a:moveTo>
                    <a:pt x="0" y="0"/>
                  </a:moveTo>
                  <a:lnTo>
                    <a:pt x="1473200" y="0"/>
                  </a:lnTo>
                  <a:lnTo>
                    <a:pt x="1473200" y="1473200"/>
                  </a:lnTo>
                  <a:lnTo>
                    <a:pt x="0" y="147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221429" y="359273"/>
            <a:ext cx="3641712" cy="61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5"/>
              </a:lnSpc>
            </a:pPr>
            <a:r>
              <a:rPr lang="en-US" sz="3568" dirty="0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HACK KRMU 5.0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9FDB5A-B847-5822-F623-1C29EE55E93C}"/>
              </a:ext>
            </a:extLst>
          </p:cNvPr>
          <p:cNvSpPr txBox="1"/>
          <p:nvPr/>
        </p:nvSpPr>
        <p:spPr>
          <a:xfrm>
            <a:off x="1221429" y="2552700"/>
            <a:ext cx="15773400" cy="772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i="1" dirty="0">
                <a:solidFill>
                  <a:schemeClr val="bg1"/>
                </a:solidFill>
              </a:rPr>
              <a:t>Indian agriculture faces severe crop losses every year, primarily due to:</a:t>
            </a:r>
          </a:p>
          <a:p>
            <a:pPr marL="914400" lvl="1" indent="-457200">
              <a:buFont typeface="Wingdings" panose="05000000000000000000" pitchFamily="2" charset="2"/>
              <a:buChar char="v"/>
            </a:pPr>
            <a:endParaRPr lang="en-US" sz="2800" b="1" dirty="0">
              <a:solidFill>
                <a:schemeClr val="bg1"/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bg1"/>
                </a:solidFill>
              </a:rPr>
              <a:t>Plant diseases and pest infestations</a:t>
            </a:r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bg1"/>
                </a:solidFill>
              </a:rPr>
              <a:t>Climate variability and irregular rainfall</a:t>
            </a:r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bg1"/>
                </a:solidFill>
              </a:rPr>
              <a:t>Late or incorrect diagnosis of crop issues</a:t>
            </a:r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bg1"/>
                </a:solidFill>
              </a:rPr>
              <a:t>Studies estimate 15–25% annual crop loss in India due to pests and diseases alone.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3600" b="1" i="1" dirty="0">
                <a:solidFill>
                  <a:schemeClr val="bg1"/>
                </a:solidFill>
              </a:rPr>
              <a:t>Ground Reality (India – Data Backed)</a:t>
            </a:r>
            <a:endParaRPr lang="en-US" sz="2800" b="1" i="1" dirty="0">
              <a:solidFill>
                <a:schemeClr val="bg1"/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bg1"/>
                </a:solidFill>
              </a:rPr>
              <a:t>Crop failure leads to financial distress and debt among farmers</a:t>
            </a:r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bg1"/>
                </a:solidFill>
              </a:rPr>
              <a:t>In 2023, India reported ~10,786 farmer &amp; agricultural </a:t>
            </a:r>
            <a:r>
              <a:rPr lang="en-US" sz="2800" dirty="0" err="1">
                <a:solidFill>
                  <a:schemeClr val="bg1"/>
                </a:solidFill>
              </a:rPr>
              <a:t>labour</a:t>
            </a:r>
            <a:r>
              <a:rPr lang="en-US" sz="2800" dirty="0">
                <a:solidFill>
                  <a:schemeClr val="bg1"/>
                </a:solidFill>
              </a:rPr>
              <a:t> suicides, forming ~6.3% of total suicides</a:t>
            </a:r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bg1"/>
                </a:solidFill>
              </a:rPr>
              <a:t>States with intensive farming such as Maharashtra and Karnataka record the highest numbers</a:t>
            </a:r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bg1"/>
                </a:solidFill>
              </a:rPr>
              <a:t>Major crop-producing regions include: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bg1"/>
                </a:solidFill>
              </a:rPr>
              <a:t>Punjab &amp; Haryana – wheat, rice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bg1"/>
                </a:solidFill>
              </a:rPr>
              <a:t>Maharashtra – cotton, sugarcane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bg1"/>
                </a:solidFill>
              </a:rPr>
              <a:t>Andhra Pradesh &amp; Telangana – rice, cotton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bg1"/>
                </a:solidFill>
              </a:rPr>
              <a:t>Uttar Pradesh &amp; Madhya Pradesh – wheat, pulses</a:t>
            </a:r>
          </a:p>
          <a:p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6B56B8-2C86-BE4C-5D18-6EE1D77E476C}"/>
              </a:ext>
            </a:extLst>
          </p:cNvPr>
          <p:cNvSpPr txBox="1"/>
          <p:nvPr/>
        </p:nvSpPr>
        <p:spPr>
          <a:xfrm>
            <a:off x="7393629" y="550213"/>
            <a:ext cx="3429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chemeClr val="accent1"/>
                </a:solidFill>
                <a:latin typeface="Intro" panose="02000000000000000000" charset="0"/>
              </a:rPr>
              <a:t>PROBLEM</a:t>
            </a:r>
            <a:r>
              <a:rPr lang="en-IN" dirty="0">
                <a:solidFill>
                  <a:schemeClr val="bg1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8AE1AE-B928-87F8-5872-92914AFB3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F7FF51F-CFDA-FBA7-654D-C764A265CDF4}"/>
              </a:ext>
            </a:extLst>
          </p:cNvPr>
          <p:cNvGrpSpPr/>
          <p:nvPr/>
        </p:nvGrpSpPr>
        <p:grpSpPr>
          <a:xfrm>
            <a:off x="116529" y="228600"/>
            <a:ext cx="1104900" cy="1104900"/>
            <a:chOff x="0" y="0"/>
            <a:chExt cx="1473200" cy="14732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CF41546-6B2B-55F2-9B3A-823939091E3C}"/>
                </a:ext>
              </a:extLst>
            </p:cNvPr>
            <p:cNvSpPr/>
            <p:nvPr/>
          </p:nvSpPr>
          <p:spPr>
            <a:xfrm>
              <a:off x="0" y="0"/>
              <a:ext cx="1473200" cy="1473200"/>
            </a:xfrm>
            <a:custGeom>
              <a:avLst/>
              <a:gdLst/>
              <a:ahLst/>
              <a:cxnLst/>
              <a:rect l="l" t="t" r="r" b="b"/>
              <a:pathLst>
                <a:path w="1473200" h="1473200">
                  <a:moveTo>
                    <a:pt x="0" y="0"/>
                  </a:moveTo>
                  <a:lnTo>
                    <a:pt x="1473200" y="0"/>
                  </a:lnTo>
                  <a:lnTo>
                    <a:pt x="1473200" y="1473200"/>
                  </a:lnTo>
                  <a:lnTo>
                    <a:pt x="0" y="147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96344597-BBA0-DF48-5BC4-2FE0777A8F58}"/>
              </a:ext>
            </a:extLst>
          </p:cNvPr>
          <p:cNvSpPr txBox="1"/>
          <p:nvPr/>
        </p:nvSpPr>
        <p:spPr>
          <a:xfrm>
            <a:off x="1221429" y="359273"/>
            <a:ext cx="3641712" cy="61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5"/>
              </a:lnSpc>
            </a:pPr>
            <a:r>
              <a:rPr lang="en-US" sz="3568" dirty="0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HACK KRMU 5.0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79EE6E-03C2-5686-4CAE-92AEE5D962AB}"/>
              </a:ext>
            </a:extLst>
          </p:cNvPr>
          <p:cNvSpPr txBox="1"/>
          <p:nvPr/>
        </p:nvSpPr>
        <p:spPr>
          <a:xfrm>
            <a:off x="7393629" y="550213"/>
            <a:ext cx="3429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chemeClr val="accent1"/>
                </a:solidFill>
                <a:latin typeface="Intro" panose="02000000000000000000" charset="0"/>
              </a:rPr>
              <a:t>PROBLEM</a:t>
            </a:r>
            <a:r>
              <a:rPr lang="en-IN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A0FB21-F4F1-7C2A-F9E2-94DF02020F12}"/>
              </a:ext>
            </a:extLst>
          </p:cNvPr>
          <p:cNvSpPr txBox="1"/>
          <p:nvPr/>
        </p:nvSpPr>
        <p:spPr>
          <a:xfrm>
            <a:off x="1221429" y="2552700"/>
            <a:ext cx="15773400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4000" b="1" dirty="0">
                <a:solidFill>
                  <a:schemeClr val="bg1"/>
                </a:solidFill>
              </a:rPr>
              <a:t>Key Challenges</a:t>
            </a:r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bg1"/>
                </a:solidFill>
              </a:rPr>
              <a:t>Lack of access to </a:t>
            </a:r>
            <a:r>
              <a:rPr lang="en-US" sz="2800" b="1" dirty="0">
                <a:solidFill>
                  <a:schemeClr val="bg1"/>
                </a:solidFill>
              </a:rPr>
              <a:t>timely agricultural experts</a:t>
            </a:r>
            <a:endParaRPr lang="en-US" sz="2800" dirty="0">
              <a:solidFill>
                <a:schemeClr val="bg1"/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bg1"/>
                </a:solidFill>
              </a:rPr>
              <a:t>Use of </a:t>
            </a:r>
            <a:r>
              <a:rPr lang="en-US" sz="2800" b="1" dirty="0">
                <a:solidFill>
                  <a:schemeClr val="bg1"/>
                </a:solidFill>
              </a:rPr>
              <a:t>wrong pesticides</a:t>
            </a:r>
            <a:r>
              <a:rPr lang="en-US" sz="2800" dirty="0">
                <a:solidFill>
                  <a:schemeClr val="bg1"/>
                </a:solidFill>
              </a:rPr>
              <a:t>, increasing costs and crop damage</a:t>
            </a:r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bg1"/>
                </a:solidFill>
              </a:rPr>
              <a:t>Generic advice that ignores </a:t>
            </a:r>
            <a:r>
              <a:rPr lang="en-US" sz="2800" b="1" dirty="0">
                <a:solidFill>
                  <a:schemeClr val="bg1"/>
                </a:solidFill>
              </a:rPr>
              <a:t>local soil and climate</a:t>
            </a:r>
            <a:endParaRPr lang="en-US" sz="2800" dirty="0">
              <a:solidFill>
                <a:schemeClr val="bg1"/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chemeClr val="bg1"/>
                </a:solidFill>
              </a:rPr>
              <a:t>Language barriers</a:t>
            </a:r>
            <a:r>
              <a:rPr lang="en-US" sz="2800" dirty="0">
                <a:solidFill>
                  <a:schemeClr val="bg1"/>
                </a:solidFill>
              </a:rPr>
              <a:t> in existing digital platforms</a:t>
            </a:r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bg1"/>
                </a:solidFill>
              </a:rPr>
              <a:t>Poor internet connectivity in rural areas</a:t>
            </a:r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bg1"/>
                </a:solidFill>
              </a:rPr>
              <a:t>No structured or follow-up treatment guidance</a:t>
            </a:r>
            <a:endParaRPr lang="en-IN" sz="2800" b="1" dirty="0">
              <a:solidFill>
                <a:schemeClr val="bg1"/>
              </a:solidFill>
            </a:endParaRPr>
          </a:p>
          <a:p>
            <a:endParaRPr lang="en-IN" sz="2800" b="1" dirty="0">
              <a:solidFill>
                <a:schemeClr val="bg1"/>
              </a:solidFill>
            </a:endParaRPr>
          </a:p>
          <a:p>
            <a:endParaRPr lang="en-IN" sz="2800" b="1" dirty="0">
              <a:solidFill>
                <a:schemeClr val="bg1"/>
              </a:solidFill>
            </a:endParaRPr>
          </a:p>
          <a:p>
            <a:endParaRPr lang="en-IN" sz="2800" b="1" dirty="0">
              <a:solidFill>
                <a:schemeClr val="bg1"/>
              </a:solidFill>
            </a:endParaRPr>
          </a:p>
          <a:p>
            <a:r>
              <a:rPr lang="en-IN" sz="4000" b="1" dirty="0">
                <a:solidFill>
                  <a:schemeClr val="bg1"/>
                </a:solidFill>
              </a:rPr>
              <a:t>In short,</a:t>
            </a:r>
            <a:r>
              <a:rPr lang="en-US" sz="4000" dirty="0"/>
              <a:t> </a:t>
            </a:r>
            <a:r>
              <a:rPr lang="en-US" sz="4000" b="1" dirty="0">
                <a:solidFill>
                  <a:schemeClr val="bg1"/>
                </a:solidFill>
              </a:rPr>
              <a:t>Farmers need a simple, reliable, and localized digital solution that helps them identify the issues with proper instructions to tackle them. </a:t>
            </a:r>
            <a:endParaRPr lang="en-IN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4967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615" y="134693"/>
            <a:ext cx="1104900" cy="1104900"/>
            <a:chOff x="0" y="0"/>
            <a:chExt cx="1473200" cy="147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73200" cy="1473200"/>
            </a:xfrm>
            <a:custGeom>
              <a:avLst/>
              <a:gdLst/>
              <a:ahLst/>
              <a:cxnLst/>
              <a:rect l="l" t="t" r="r" b="b"/>
              <a:pathLst>
                <a:path w="1473200" h="1473200">
                  <a:moveTo>
                    <a:pt x="0" y="0"/>
                  </a:moveTo>
                  <a:lnTo>
                    <a:pt x="1473200" y="0"/>
                  </a:lnTo>
                  <a:lnTo>
                    <a:pt x="1473200" y="1473200"/>
                  </a:lnTo>
                  <a:lnTo>
                    <a:pt x="0" y="147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423012" y="1257300"/>
            <a:ext cx="5441976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01"/>
              </a:lnSpc>
            </a:pPr>
            <a:r>
              <a:rPr lang="en-US" sz="4000" b="1" dirty="0">
                <a:solidFill>
                  <a:srgbClr val="1F77D9"/>
                </a:solidFill>
                <a:latin typeface="Intro"/>
                <a:ea typeface="Intro"/>
                <a:cs typeface="Intro"/>
                <a:sym typeface="Intro"/>
              </a:rPr>
              <a:t>Flow of Solution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21429" y="359273"/>
            <a:ext cx="3641712" cy="61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5"/>
              </a:lnSpc>
            </a:pPr>
            <a:r>
              <a:rPr lang="en-US" sz="3568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HACK KRMU 5.0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C4D23D-703F-7680-9026-FE628223A3C4}"/>
              </a:ext>
            </a:extLst>
          </p:cNvPr>
          <p:cNvSpPr txBox="1"/>
          <p:nvPr/>
        </p:nvSpPr>
        <p:spPr>
          <a:xfrm>
            <a:off x="1221429" y="2781300"/>
            <a:ext cx="16459457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4000" b="1" dirty="0" err="1">
                <a:solidFill>
                  <a:schemeClr val="bg1"/>
                </a:solidFill>
              </a:rPr>
              <a:t>Kisaan</a:t>
            </a:r>
            <a:r>
              <a:rPr lang="en-US" sz="4000" b="1" dirty="0">
                <a:solidFill>
                  <a:schemeClr val="bg1"/>
                </a:solidFill>
              </a:rPr>
              <a:t> Saathi</a:t>
            </a:r>
            <a:r>
              <a:rPr lang="en-US" sz="2800" dirty="0">
                <a:solidFill>
                  <a:schemeClr val="bg1"/>
                </a:solidFill>
              </a:rPr>
              <a:t> is a </a:t>
            </a:r>
            <a:r>
              <a:rPr lang="en-US" sz="2800" b="1" dirty="0">
                <a:solidFill>
                  <a:schemeClr val="bg1"/>
                </a:solidFill>
              </a:rPr>
              <a:t>mobile-first, AI-powered crop disease diagnosis platform</a:t>
            </a:r>
            <a:r>
              <a:rPr lang="en-US" sz="2800" dirty="0">
                <a:solidFill>
                  <a:schemeClr val="bg1"/>
                </a:solidFill>
              </a:rPr>
              <a:t> that enables farmers to: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bg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Upload images of diseased crops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Instantly identify </a:t>
            </a:r>
            <a:r>
              <a:rPr lang="en-US" sz="2800" b="1" dirty="0">
                <a:solidFill>
                  <a:schemeClr val="bg1"/>
                </a:solidFill>
              </a:rPr>
              <a:t>crop diseases and pests</a:t>
            </a:r>
            <a:endParaRPr lang="en-US" sz="2800" dirty="0">
              <a:solidFill>
                <a:schemeClr val="bg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Receive </a:t>
            </a:r>
            <a:r>
              <a:rPr lang="en-US" sz="2800" b="1" dirty="0">
                <a:solidFill>
                  <a:schemeClr val="bg1"/>
                </a:solidFill>
              </a:rPr>
              <a:t>location-specific treatment recommendations</a:t>
            </a:r>
            <a:endParaRPr lang="en-US" sz="2800" dirty="0">
              <a:solidFill>
                <a:schemeClr val="bg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Get guidance in </a:t>
            </a:r>
            <a:r>
              <a:rPr lang="en-US" sz="2800" b="1" dirty="0">
                <a:solidFill>
                  <a:schemeClr val="bg1"/>
                </a:solidFill>
              </a:rPr>
              <a:t>local dialects through text and voice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bg1"/>
                </a:solidFill>
              </a:rPr>
              <a:t> Key Functional Features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 Image upload of diseased crops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 AI-based disease &amp; pest detection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 Location-based recommendations using soil &amp; climate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 Local dialect support (text + voice)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 Pesticide and soil treatment guidance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Structured </a:t>
            </a:r>
            <a:r>
              <a:rPr lang="en-US" sz="2800" b="1" dirty="0">
                <a:solidFill>
                  <a:schemeClr val="bg1"/>
                </a:solidFill>
              </a:rPr>
              <a:t>7-day action plan</a:t>
            </a: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 Diagnosis history tracking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615" y="134693"/>
            <a:ext cx="1104900" cy="1104900"/>
            <a:chOff x="0" y="0"/>
            <a:chExt cx="1473200" cy="147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73200" cy="1473200"/>
            </a:xfrm>
            <a:custGeom>
              <a:avLst/>
              <a:gdLst/>
              <a:ahLst/>
              <a:cxnLst/>
              <a:rect l="l" t="t" r="r" b="b"/>
              <a:pathLst>
                <a:path w="1473200" h="1473200">
                  <a:moveTo>
                    <a:pt x="0" y="0"/>
                  </a:moveTo>
                  <a:lnTo>
                    <a:pt x="1473200" y="0"/>
                  </a:lnTo>
                  <a:lnTo>
                    <a:pt x="1473200" y="1473200"/>
                  </a:lnTo>
                  <a:lnTo>
                    <a:pt x="0" y="147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355223" y="1202484"/>
            <a:ext cx="5687911" cy="526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2"/>
              </a:lnSpc>
            </a:pPr>
            <a:r>
              <a:rPr lang="en-US" sz="3266" b="1" spc="-39">
                <a:solidFill>
                  <a:srgbClr val="1F77D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 STACK &amp; APPROACH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21429" y="359273"/>
            <a:ext cx="3641712" cy="61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5"/>
              </a:lnSpc>
            </a:pPr>
            <a:r>
              <a:rPr lang="en-US" sz="3568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HACK KRMU 5.0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80635B-36AD-20F9-313D-5CEB51C99588}"/>
              </a:ext>
            </a:extLst>
          </p:cNvPr>
          <p:cNvSpPr txBox="1"/>
          <p:nvPr/>
        </p:nvSpPr>
        <p:spPr>
          <a:xfrm>
            <a:off x="671065" y="2324100"/>
            <a:ext cx="16840200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 err="1">
                <a:solidFill>
                  <a:schemeClr val="bg1"/>
                </a:solidFill>
              </a:rPr>
              <a:t>Kisaan</a:t>
            </a:r>
            <a:r>
              <a:rPr lang="en-IN" sz="4000" b="1" dirty="0">
                <a:solidFill>
                  <a:schemeClr val="bg1"/>
                </a:solidFill>
              </a:rPr>
              <a:t> Saathi – Tech Stack</a:t>
            </a:r>
          </a:p>
          <a:p>
            <a:r>
              <a:rPr lang="en-IN" sz="3200" dirty="0">
                <a:solidFill>
                  <a:schemeClr val="bg1"/>
                </a:solidFill>
              </a:rPr>
              <a:t>Frontend (Mobile App)</a:t>
            </a:r>
          </a:p>
          <a:p>
            <a:r>
              <a:rPr lang="en-IN" sz="3200" dirty="0">
                <a:solidFill>
                  <a:schemeClr val="bg1"/>
                </a:solidFill>
              </a:rPr>
              <a:t>Flutter (Android-first)</a:t>
            </a:r>
          </a:p>
          <a:p>
            <a:r>
              <a:rPr lang="en-IN" sz="3200" dirty="0">
                <a:solidFill>
                  <a:schemeClr val="bg1"/>
                </a:solidFill>
              </a:rPr>
              <a:t>Lightweight UI for low-end devices</a:t>
            </a:r>
          </a:p>
          <a:p>
            <a:r>
              <a:rPr lang="en-IN" sz="3200" dirty="0">
                <a:solidFill>
                  <a:schemeClr val="bg1"/>
                </a:solidFill>
              </a:rPr>
              <a:t>Offline-first design (cached data &amp; voice)</a:t>
            </a:r>
          </a:p>
          <a:p>
            <a:r>
              <a:rPr lang="en-IN" sz="3200" dirty="0">
                <a:solidFill>
                  <a:schemeClr val="bg1"/>
                </a:solidFill>
              </a:rPr>
              <a:t>Image compression before upload (low bandwidth so it can work on low network speeds)</a:t>
            </a:r>
          </a:p>
          <a:p>
            <a:endParaRPr lang="en-IN" sz="3200" dirty="0">
              <a:solidFill>
                <a:schemeClr val="bg1"/>
              </a:solidFill>
            </a:endParaRPr>
          </a:p>
          <a:p>
            <a:r>
              <a:rPr lang="en-IN" sz="4000" b="1" dirty="0">
                <a:solidFill>
                  <a:schemeClr val="bg1"/>
                </a:solidFill>
              </a:rPr>
              <a:t>Approach and Tech used</a:t>
            </a:r>
          </a:p>
          <a:p>
            <a:r>
              <a:rPr lang="en-IN" sz="3200" dirty="0">
                <a:solidFill>
                  <a:schemeClr val="bg1"/>
                </a:solidFill>
              </a:rPr>
              <a:t>AI &amp; Machine Learning for training the LLM to detect the issues</a:t>
            </a:r>
          </a:p>
          <a:p>
            <a:r>
              <a:rPr lang="en-IN" sz="3200" dirty="0">
                <a:solidFill>
                  <a:schemeClr val="bg1"/>
                </a:solidFill>
              </a:rPr>
              <a:t>Location Intelligence for GPS-based geolocation integration</a:t>
            </a:r>
          </a:p>
          <a:p>
            <a:r>
              <a:rPr lang="en-IN" sz="3200" dirty="0">
                <a:solidFill>
                  <a:schemeClr val="bg1"/>
                </a:solidFill>
              </a:rPr>
              <a:t>Multilingual Voice Engine for languages used by Indian farmers ensuring proper understanding </a:t>
            </a:r>
          </a:p>
          <a:p>
            <a:r>
              <a:rPr lang="en-IN" sz="3200" dirty="0">
                <a:solidFill>
                  <a:schemeClr val="bg1"/>
                </a:solidFill>
              </a:rPr>
              <a:t>Crop &amp; Pesticide Knowledge Base which checks and confirms approved pesticides and alternatives </a:t>
            </a:r>
          </a:p>
          <a:p>
            <a:r>
              <a:rPr lang="en-IN" sz="3200" dirty="0">
                <a:solidFill>
                  <a:schemeClr val="bg1"/>
                </a:solidFill>
              </a:rPr>
              <a:t>Optimization for Rural Usage ensuring low data usage where high speed network fails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615" y="134693"/>
            <a:ext cx="1104900" cy="1104900"/>
            <a:chOff x="0" y="0"/>
            <a:chExt cx="1473200" cy="147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73200" cy="1473200"/>
            </a:xfrm>
            <a:custGeom>
              <a:avLst/>
              <a:gdLst/>
              <a:ahLst/>
              <a:cxnLst/>
              <a:rect l="l" t="t" r="r" b="b"/>
              <a:pathLst>
                <a:path w="1473200" h="1473200">
                  <a:moveTo>
                    <a:pt x="0" y="0"/>
                  </a:moveTo>
                  <a:lnTo>
                    <a:pt x="1473200" y="0"/>
                  </a:lnTo>
                  <a:lnTo>
                    <a:pt x="1473200" y="1473200"/>
                  </a:lnTo>
                  <a:lnTo>
                    <a:pt x="0" y="147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874232" y="1485900"/>
            <a:ext cx="9689368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87"/>
              </a:lnSpc>
            </a:pPr>
            <a:r>
              <a:rPr lang="en-US" sz="4000" dirty="0">
                <a:solidFill>
                  <a:srgbClr val="4483F8"/>
                </a:solidFill>
                <a:latin typeface="Intro"/>
                <a:ea typeface="Intro"/>
                <a:cs typeface="Intro"/>
                <a:sym typeface="Intro"/>
              </a:rPr>
              <a:t>UNIQUENESS &amp; INNOVATION FACTOR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21429" y="359273"/>
            <a:ext cx="3641712" cy="61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5"/>
              </a:lnSpc>
            </a:pPr>
            <a:r>
              <a:rPr lang="en-US" sz="3568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HACK KRMU 5.0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90BFB3-1A0C-C870-03E0-31CF5E45D4F1}"/>
              </a:ext>
            </a:extLst>
          </p:cNvPr>
          <p:cNvSpPr txBox="1"/>
          <p:nvPr/>
        </p:nvSpPr>
        <p:spPr>
          <a:xfrm>
            <a:off x="1061930" y="2804398"/>
            <a:ext cx="15313971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>
                <a:solidFill>
                  <a:schemeClr val="bg1"/>
                </a:solidFill>
              </a:rPr>
              <a:t>Kisaan</a:t>
            </a:r>
            <a:r>
              <a:rPr lang="en-US" sz="4000" b="1" dirty="0">
                <a:solidFill>
                  <a:schemeClr val="bg1"/>
                </a:solidFill>
              </a:rPr>
              <a:t> Saathi is unique because it:</a:t>
            </a:r>
          </a:p>
          <a:p>
            <a:endParaRPr lang="en-US" sz="4000" dirty="0">
              <a:solidFill>
                <a:schemeClr val="bg1"/>
              </a:solidFill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chemeClr val="bg1"/>
                </a:solidFill>
              </a:rPr>
              <a:t>Converts AI diagnosis into </a:t>
            </a:r>
            <a:r>
              <a:rPr lang="en-US" sz="4000" b="1" dirty="0">
                <a:solidFill>
                  <a:schemeClr val="bg1"/>
                </a:solidFill>
              </a:rPr>
              <a:t>step-by-step action</a:t>
            </a:r>
            <a:endParaRPr lang="en-US" sz="4000" dirty="0">
              <a:solidFill>
                <a:schemeClr val="bg1"/>
              </a:solidFill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chemeClr val="bg1"/>
                </a:solidFill>
              </a:rPr>
              <a:t>Adapts advice to </a:t>
            </a:r>
            <a:r>
              <a:rPr lang="en-US" sz="4000" b="1" dirty="0">
                <a:solidFill>
                  <a:schemeClr val="bg1"/>
                </a:solidFill>
              </a:rPr>
              <a:t>local soil &amp; climate</a:t>
            </a:r>
            <a:endParaRPr lang="en-US" sz="4000" dirty="0">
              <a:solidFill>
                <a:schemeClr val="bg1"/>
              </a:solidFill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chemeClr val="bg1"/>
                </a:solidFill>
              </a:rPr>
              <a:t>Communicates in </a:t>
            </a:r>
            <a:r>
              <a:rPr lang="en-US" sz="4000" b="1" dirty="0">
                <a:solidFill>
                  <a:schemeClr val="bg1"/>
                </a:solidFill>
              </a:rPr>
              <a:t>local dialects with voice</a:t>
            </a:r>
            <a:endParaRPr lang="en-US" sz="4000" dirty="0">
              <a:solidFill>
                <a:schemeClr val="bg1"/>
              </a:solidFill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chemeClr val="bg1"/>
                </a:solidFill>
              </a:rPr>
              <a:t>Works reliably on </a:t>
            </a:r>
            <a:r>
              <a:rPr lang="en-US" sz="4000" b="1" dirty="0">
                <a:solidFill>
                  <a:schemeClr val="bg1"/>
                </a:solidFill>
              </a:rPr>
              <a:t>3G networks</a:t>
            </a:r>
            <a:endParaRPr lang="en-US" sz="4000" dirty="0">
              <a:solidFill>
                <a:schemeClr val="bg1"/>
              </a:solidFill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chemeClr val="bg1"/>
                </a:solidFill>
              </a:rPr>
              <a:t>Learns from farmer history to improve outcomes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615" y="134693"/>
            <a:ext cx="1104900" cy="1104900"/>
            <a:chOff x="0" y="0"/>
            <a:chExt cx="1473200" cy="147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73200" cy="1473200"/>
            </a:xfrm>
            <a:custGeom>
              <a:avLst/>
              <a:gdLst/>
              <a:ahLst/>
              <a:cxnLst/>
              <a:rect l="l" t="t" r="r" b="b"/>
              <a:pathLst>
                <a:path w="1473200" h="1473200">
                  <a:moveTo>
                    <a:pt x="0" y="0"/>
                  </a:moveTo>
                  <a:lnTo>
                    <a:pt x="1473200" y="0"/>
                  </a:lnTo>
                  <a:lnTo>
                    <a:pt x="1473200" y="1473200"/>
                  </a:lnTo>
                  <a:lnTo>
                    <a:pt x="0" y="147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7259300" y="9514551"/>
            <a:ext cx="413871" cy="493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1"/>
              </a:lnSpc>
            </a:pPr>
            <a:r>
              <a:rPr lang="en-US" sz="2872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63141" y="979265"/>
            <a:ext cx="8014659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6"/>
              </a:lnSpc>
            </a:pPr>
            <a:r>
              <a:rPr lang="en-US" sz="4000" dirty="0">
                <a:solidFill>
                  <a:srgbClr val="4483F8"/>
                </a:solidFill>
                <a:latin typeface="Intro"/>
                <a:ea typeface="Intro"/>
                <a:cs typeface="Intro"/>
                <a:sym typeface="Intro"/>
              </a:rPr>
              <a:t>Challenges AND SOLUTIONS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21429" y="359273"/>
            <a:ext cx="3641712" cy="61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5"/>
              </a:lnSpc>
            </a:pPr>
            <a:r>
              <a:rPr lang="en-US" sz="3568" dirty="0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HACK KRMU 5.0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1514BE-12DE-BA61-3CE3-55F0CF615645}"/>
              </a:ext>
            </a:extLst>
          </p:cNvPr>
          <p:cNvSpPr txBox="1"/>
          <p:nvPr/>
        </p:nvSpPr>
        <p:spPr>
          <a:xfrm>
            <a:off x="1447800" y="2005560"/>
            <a:ext cx="7696200" cy="7755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Challenge 1: Image Quality Variations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Blurry or low-light images may reduce diagnosis accuracy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SOLUTION:</a:t>
            </a: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In-app photo capture guidance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Confidence threshold &amp; re-capture 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Challenge 2: Model Accuracy Across Crops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Diseases vary by region and crop variety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SOLUTION:</a:t>
            </a: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Start with high-impact crops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Gradual model improvement using feedback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Continuous dataset expansion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Prompt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Challenge 3: Internet Connectivity Issues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Rural areas often rely on 2G/3G networks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SOLUTION:</a:t>
            </a: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On-device image compression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Text-first responses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Offline caching of advice and voice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E7C1B8-3226-8D21-5D94-7C163A678731}"/>
              </a:ext>
            </a:extLst>
          </p:cNvPr>
          <p:cNvSpPr txBox="1"/>
          <p:nvPr/>
        </p:nvSpPr>
        <p:spPr>
          <a:xfrm>
            <a:off x="9677400" y="2005560"/>
            <a:ext cx="624839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Challenge 4: Language &amp; Dialect Diversity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India has many dialects beyond major languages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SOLUTION:</a:t>
            </a: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Start with widely spoken languages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Modular language expansion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Simple, region-neutral phrasing</a:t>
            </a:r>
          </a:p>
          <a:p>
            <a:br>
              <a:rPr lang="en-US" sz="2400" dirty="0">
                <a:solidFill>
                  <a:schemeClr val="bg1"/>
                </a:solidFill>
              </a:rPr>
            </a:b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 Challenge 5: Farmer Trust &amp; Adoption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Farmers may hesitate to trust AI-based advice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SOLUTION:</a:t>
            </a: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Clear explanations in local language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Conservative recommendations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Partnership with agricultural bodies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615" y="134693"/>
            <a:ext cx="1104900" cy="1104900"/>
            <a:chOff x="0" y="0"/>
            <a:chExt cx="1473200" cy="1473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73200" cy="1473200"/>
            </a:xfrm>
            <a:custGeom>
              <a:avLst/>
              <a:gdLst/>
              <a:ahLst/>
              <a:cxnLst/>
              <a:rect l="l" t="t" r="r" b="b"/>
              <a:pathLst>
                <a:path w="1473200" h="1473200">
                  <a:moveTo>
                    <a:pt x="0" y="0"/>
                  </a:moveTo>
                  <a:lnTo>
                    <a:pt x="1473200" y="0"/>
                  </a:lnTo>
                  <a:lnTo>
                    <a:pt x="1473200" y="1473200"/>
                  </a:lnTo>
                  <a:lnTo>
                    <a:pt x="0" y="147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7259300" y="9540821"/>
            <a:ext cx="413871" cy="493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1"/>
              </a:lnSpc>
            </a:pPr>
            <a:r>
              <a:rPr lang="en-US" sz="2872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53300" y="1238364"/>
            <a:ext cx="35814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dirty="0">
                <a:solidFill>
                  <a:srgbClr val="4483F8"/>
                </a:solidFill>
                <a:latin typeface="Intro"/>
                <a:ea typeface="Intro"/>
                <a:cs typeface="Intro"/>
                <a:sym typeface="Intro"/>
              </a:rPr>
              <a:t> </a:t>
            </a:r>
            <a:r>
              <a:rPr lang="en-US" sz="4000" dirty="0">
                <a:solidFill>
                  <a:srgbClr val="4483F8"/>
                </a:solidFill>
                <a:latin typeface="Intro"/>
                <a:ea typeface="Intro"/>
                <a:cs typeface="Intro"/>
                <a:sym typeface="Intro"/>
              </a:rPr>
              <a:t>References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21429" y="359273"/>
            <a:ext cx="3641712" cy="61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5"/>
              </a:lnSpc>
            </a:pPr>
            <a:r>
              <a:rPr lang="en-US" sz="3568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HACK KRMU 5.0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68CF1D-E7D6-307E-46C0-7815A074E86C}"/>
              </a:ext>
            </a:extLst>
          </p:cNvPr>
          <p:cNvSpPr txBox="1"/>
          <p:nvPr/>
        </p:nvSpPr>
        <p:spPr>
          <a:xfrm>
            <a:off x="1221429" y="2781300"/>
            <a:ext cx="10485243" cy="28315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4000" i="1" dirty="0">
                <a:solidFill>
                  <a:schemeClr val="bg1"/>
                </a:solidFill>
              </a:rPr>
              <a:t>Datasets: Kaggle &amp; public agricultural datasets</a:t>
            </a:r>
            <a:endParaRPr lang="en-US" sz="4000" dirty="0">
              <a:solidFill>
                <a:schemeClr val="bg1"/>
              </a:solidFill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4000" i="1" dirty="0">
                <a:solidFill>
                  <a:schemeClr val="bg1"/>
                </a:solidFill>
              </a:rPr>
              <a:t>Advisories: Government agricultural portals</a:t>
            </a:r>
            <a:endParaRPr lang="en-US" sz="4000" dirty="0">
              <a:solidFill>
                <a:schemeClr val="bg1"/>
              </a:solidFill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4000" i="1" dirty="0">
                <a:solidFill>
                  <a:schemeClr val="bg1"/>
                </a:solidFill>
              </a:rPr>
              <a:t>Weather: Open weather APIs</a:t>
            </a:r>
            <a:endParaRPr lang="en-US" sz="4000" dirty="0">
              <a:solidFill>
                <a:schemeClr val="bg1"/>
              </a:solidFill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4000" i="1" dirty="0">
                <a:solidFill>
                  <a:schemeClr val="bg1"/>
                </a:solidFill>
              </a:rPr>
              <a:t>Language: Multilingual NLP research</a:t>
            </a:r>
            <a:endParaRPr lang="en-US" sz="4000" dirty="0">
              <a:solidFill>
                <a:schemeClr val="bg1"/>
              </a:solidFill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661</Words>
  <Application>Microsoft Office PowerPoint</Application>
  <PresentationFormat>Custom</PresentationFormat>
  <Paragraphs>120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Courier New</vt:lpstr>
      <vt:lpstr>Montserrat Bold</vt:lpstr>
      <vt:lpstr>Wingdings</vt:lpstr>
      <vt:lpstr>Arial</vt:lpstr>
      <vt:lpstr>Intro</vt:lpstr>
      <vt:lpstr>Calibri</vt:lpstr>
      <vt:lpstr>Helvetica World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 KRMU PPT TEMPLATE.pdf</dc:title>
  <dc:creator>Gaurav Chauhan</dc:creator>
  <cp:lastModifiedBy>Gaurav Chauhan</cp:lastModifiedBy>
  <cp:revision>3</cp:revision>
  <dcterms:created xsi:type="dcterms:W3CDTF">2006-08-16T00:00:00Z</dcterms:created>
  <dcterms:modified xsi:type="dcterms:W3CDTF">2026-02-18T15:45:16Z</dcterms:modified>
  <dc:identifier>DAHBq58luTM</dc:identifier>
</cp:coreProperties>
</file>